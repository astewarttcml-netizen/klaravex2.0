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laravex-logo-light-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777240"/>
            <a:ext cx="2313432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514600"/>
            <a:ext cx="108813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Noto Sans"/>
              </a:rPr>
              <a:t>Managed IT, run by AI.</a:t>
            </a:r>
          </a:p>
          <a:p>
            <a:pPr algn="l">
              <a:spcBef>
                <a:spcPts val="0"/>
              </a:spcBef>
            </a:pPr>
            <a:r>
              <a:rPr sz="5400" b="1">
                <a:solidFill>
                  <a:srgbClr val="818CF8"/>
                </a:solidFill>
                <a:latin typeface="Noto Sans"/>
              </a:rPr>
              <a:t>Priced like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17720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A9AA6"/>
                </a:solidFill>
                <a:latin typeface="Noto Sans"/>
              </a:rPr>
              <a:t>Klaravex is an AI-first managed IT &amp; security company for US small business — investor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A9AA6"/>
                </a:solidFill>
                <a:latin typeface="Noto Sans"/>
              </a:rPr>
              <a:t>CONFIDENTIAL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0" b="1">
                <a:solidFill>
                  <a:srgbClr val="818CF8"/>
                </a:solidFill>
                <a:latin typeface="Noto Sans"/>
              </a:rPr>
              <a:t>89%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77639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"/>
              </a:rPr>
              <a:t>of IT support work no longer needs a human.</a:t>
            </a:r>
          </a:p>
          <a:p>
            <a:pPr algn="l">
              <a:spcBef>
                <a:spcPts val="800"/>
              </a:spcBef>
            </a:pPr>
            <a:r>
              <a:rPr sz="3000" b="0">
                <a:solidFill>
                  <a:srgbClr val="9A9AA6"/>
                </a:solidFill>
                <a:latin typeface="Noto Sans"/>
              </a:rPr>
              <a:t>The industry still bills as if all of it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9AA6"/>
                </a:solidFill>
                <a:latin typeface="Noto Sans"/>
              </a:rPr>
              <a:t>02</a:t>
            </a:r>
          </a:p>
        </p:txBody>
      </p:sp>
      <p:pic>
        <p:nvPicPr>
          <p:cNvPr id="6" name="Picture 5" descr="klaravex-icon-transparent-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57200" cy="6858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  <a:latin typeface="Noto San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Noto Sans"/>
              </a:rPr>
              <a:t>Small business IT is broken in three places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377440"/>
            <a:ext cx="411480" cy="64008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Noto Sans"/>
              </a:rPr>
              <a:t>Priced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9A9AA6"/>
                </a:solidFill>
                <a:latin typeface="Noto Sans"/>
              </a:rPr>
              <a:t>Compliance-grade IT — HIPAA, SOC 2, ISO 27001 readiness — is enterprise-priced because it is delivered with enterprise headcount.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5740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2377440"/>
            <a:ext cx="411480" cy="64008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56032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Noto Sans"/>
              </a:rPr>
              <a:t>Misaligned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20040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9A9AA6"/>
                </a:solidFill>
                <a:latin typeface="Noto Sans"/>
              </a:rPr>
              <a:t>Per-ticket billing rewards a full queue. Vendor commissions shape recommendations. The people grading the environment are the ones running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5740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0" y="2377440"/>
            <a:ext cx="411480" cy="64008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56032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Noto Sans"/>
              </a:rPr>
              <a:t>Low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0040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9A9AA6"/>
                </a:solidFill>
                <a:latin typeface="Noto Sans"/>
              </a:rPr>
              <a:t>Consumers get truck-roll prices and urgency-driven scam “help.” Nobody in the market leads with honesty.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19088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9AA6"/>
                </a:solidFill>
                <a:latin typeface="Noto Sans"/>
              </a:rPr>
              <a:t>03</a:t>
            </a:r>
          </a:p>
        </p:txBody>
      </p:sp>
      <p:pic>
        <p:nvPicPr>
          <p:cNvPr id="19" name="Picture 18" descr="klaravex-icon-transparent-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57200" cy="6858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  <a:latin typeface="Noto Sans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Noto Sans"/>
              </a:rPr>
              <a:t>The cost of resolution just collapsed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881360" cy="114300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3291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818CF8"/>
                </a:solidFill>
                <a:latin typeface="Noto Sans"/>
              </a:rPr>
              <a:t>AI can now close the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267712"/>
            <a:ext cx="6766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Noto Sans"/>
              </a:rPr>
              <a:t>Frontier models resolve real tickets end to end — triage, fix, documentation — not just deflect them to an FAQ.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29000"/>
            <a:ext cx="10881360" cy="114300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93592"/>
            <a:ext cx="3291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818CF8"/>
                </a:solidFill>
                <a:latin typeface="Noto Sans"/>
              </a:rPr>
              <a:t>Compliance pressure is rising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593592"/>
            <a:ext cx="6766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Noto Sans"/>
              </a:rPr>
              <a:t>Cyber-insurance and client audits now reach firms with 10 seats, not 1,000.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54880"/>
            <a:ext cx="10881360" cy="114300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19472"/>
            <a:ext cx="3291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818CF8"/>
                </a:solidFill>
                <a:latin typeface="Noto Sans"/>
              </a:rPr>
              <a:t>Incumbents cannot follow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919472"/>
            <a:ext cx="6766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Noto Sans"/>
              </a:rPr>
              <a:t>Labor-based MSPs would have to fire their own delivery model to match AI-first economics.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19088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9AA6"/>
                </a:solidFill>
                <a:latin typeface="Noto Sans"/>
              </a:rPr>
              <a:t>04</a:t>
            </a:r>
          </a:p>
        </p:txBody>
      </p:sp>
      <p:pic>
        <p:nvPicPr>
          <p:cNvPr id="16" name="Picture 15" descr="klaravex-icon-transparent-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57200" cy="6858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  <a:latin typeface="Noto Sans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Noto Sans"/>
              </a:rPr>
              <a:t>Two surfaces. One AI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4206240"/>
            <a:ext cx="7772400" cy="155448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4370832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818CF8"/>
                </a:solidFill>
                <a:latin typeface="Noto Sans"/>
              </a:rPr>
              <a:t>KLARAVEX AI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828032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9A9AA6"/>
                </a:solidFill>
                <a:latin typeface="Noto Sans"/>
              </a:rPr>
              <a:t>Voice · SMS · chat · email → one AI coordinator, one guardrail policy, one escalation path. Always labeled as 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965960"/>
            <a:ext cx="4754880" cy="192024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488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Noto Sans"/>
              </a:rPr>
              <a:t>klaravex.com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51760"/>
            <a:ext cx="4160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Noto Sans"/>
              </a:rPr>
              <a:t>B2B managed IT &amp; security. Flat fee per user, tiers from $75 to $250. 2-hour senior response, zero vendor commissions.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65960"/>
            <a:ext cx="4754880" cy="192024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488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Noto Sans"/>
              </a:rPr>
              <a:t>personal.klaravex.com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51760"/>
            <a:ext cx="4160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Noto Sans"/>
              </a:rPr>
              <a:t>Consumer help by Klaravex AI. $29 sessions, plans from $29/month, free scam &amp; hack recovery.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886200"/>
            <a:ext cx="82296" cy="329184"/>
          </a:xfrm>
          <a:prstGeom prst="rect">
            <a:avLst/>
          </a:prstGeom>
          <a:solidFill>
            <a:srgbClr val="9A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3886200"/>
            <a:ext cx="82296" cy="329184"/>
          </a:xfrm>
          <a:prstGeom prst="rect">
            <a:avLst/>
          </a:prstGeom>
          <a:solidFill>
            <a:srgbClr val="9A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92840" y="6419088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9AA6"/>
                </a:solidFill>
                <a:latin typeface="Noto Sans"/>
              </a:rPr>
              <a:t>05</a:t>
            </a:r>
          </a:p>
        </p:txBody>
      </p:sp>
      <p:pic>
        <p:nvPicPr>
          <p:cNvPr id="18" name="Picture 17" descr="klaravex-icon-transparent-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57200" cy="6858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  <a:latin typeface="Noto San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Noto Sans"/>
              </a:rPr>
              <a:t>Every issue takes the same honest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542032" cy="301752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08483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Noto Sans"/>
              </a:rPr>
              <a:t>Any channel,
any 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66160"/>
            <a:ext cx="208483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A9AA6"/>
                </a:solidFill>
                <a:latin typeface="Noto Sans"/>
              </a:rPr>
              <a:t>Phone, SMS, chat, email — 24/7, every time zone.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3611880"/>
            <a:ext cx="265176" cy="274320"/>
          </a:xfrm>
          <a:prstGeom prst="rightArrow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2286000"/>
            <a:ext cx="2542032" cy="301752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514600"/>
            <a:ext cx="208483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Noto Sans"/>
              </a:rPr>
              <a:t>AI resolves
89%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566160"/>
            <a:ext cx="208483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"/>
              </a:rPr>
              <a:t>Tier 1–2, monitoring, provisioning, onboarding, reporting — instantly.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35040" y="3611880"/>
            <a:ext cx="265176" cy="274320"/>
          </a:xfrm>
          <a:prstGeom prst="rightArrow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2286000"/>
            <a:ext cx="2542032" cy="301752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514600"/>
            <a:ext cx="208483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Noto Sans"/>
              </a:rPr>
              <a:t>Guardrails
on every 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566160"/>
            <a:ext cx="208483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A9AA6"/>
                </a:solidFill>
                <a:latin typeface="Noto Sans"/>
              </a:rPr>
              <a:t>Policy filters on input and output; escalation enforced at two boundaries.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69680" y="3611880"/>
            <a:ext cx="265176" cy="274320"/>
          </a:xfrm>
          <a:prstGeom prst="rightArrow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2286000"/>
            <a:ext cx="2542032" cy="301752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514600"/>
            <a:ext cx="208483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Noto Sans"/>
              </a:rPr>
              <a:t>Senior engineer
for the 11%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566160"/>
            <a:ext cx="208483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A9AA6"/>
                </a:solidFill>
                <a:latin typeface="Noto Sans"/>
              </a:rPr>
              <a:t>Security, architecture, compliance — 2-hour commitment, service credit if missed.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A9AA6"/>
                </a:solidFill>
                <a:latin typeface="Noto Sans"/>
              </a:rPr>
              <a:t>Every action is logged; a human-review console owns approvals, billing and exceptions.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19088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9AA6"/>
                </a:solidFill>
                <a:latin typeface="Noto Sans"/>
              </a:rPr>
              <a:t>06</a:t>
            </a:r>
          </a:p>
        </p:txBody>
      </p:sp>
      <p:pic>
        <p:nvPicPr>
          <p:cNvPr id="23" name="Picture 22" descr="klaravex-icon-transparent-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57200" cy="6858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  <a:latin typeface="Noto Sans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Noto Sans"/>
              </a:rPr>
              <a:t>Flat, recurring, conflict-free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  <a:latin typeface="Noto Sans"/>
              </a:rP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Noto Sans"/>
              </a:rPr>
              <a:t>from $75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A9AA6"/>
                </a:solidFill>
                <a:latin typeface="Noto Sans"/>
              </a:rPr>
              <a:t>managed IT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0312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33172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  <a:latin typeface="Noto Sans"/>
              </a:rPr>
              <a:t>ASSURANCE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74320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Noto Sans"/>
              </a:rPr>
              <a:t>from $100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611880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A9AA6"/>
                </a:solidFill>
                <a:latin typeface="Noto Sans"/>
              </a:rPr>
              <a:t>+ security &amp; identity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0312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33172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"/>
              </a:rPr>
              <a:t>DIRECTIVE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Noto Sans"/>
              </a:rPr>
              <a:t>from $150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611880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Noto Sans"/>
              </a:rPr>
              <a:t>compliance readiness + MDR + vCISO — where enterprise deals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9A9AA6"/>
                </a:solidFill>
                <a:latin typeface="Noto Sans"/>
              </a:rPr>
              <a:t>Per user, per month. No per-ticket billing — nobody profits from a full queue. No vendor commissions — recommendations carry no hidden margin. Consumer line adds $29 sessions, $29/mo Solo, $39/mo Family.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19088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9AA6"/>
                </a:solidFill>
                <a:latin typeface="Noto Sans"/>
              </a:rPr>
              <a:t>07</a:t>
            </a:r>
          </a:p>
        </p:txBody>
      </p:sp>
      <p:pic>
        <p:nvPicPr>
          <p:cNvPr id="20" name="Picture 19" descr="klaravex-icon-transparent-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57200" cy="6858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  <a:latin typeface="Noto Sans"/>
              </a:rPr>
              <a:t>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Noto Sans"/>
              </a:rPr>
              <a:t>AI resolution is gross margin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3611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0" b="1">
                <a:solidFill>
                  <a:srgbClr val="818CF8"/>
                </a:solidFill>
                <a:latin typeface="Noto Sans"/>
              </a:rPr>
              <a:t>89%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A9AA6"/>
                </a:solidFill>
                <a:latin typeface="Noto Sans"/>
              </a:rPr>
              <a:t>of volume at near-zero
marginal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48840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606040"/>
            <a:ext cx="3611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0" b="1">
                <a:solidFill>
                  <a:srgbClr val="818CF8"/>
                </a:solidFill>
                <a:latin typeface="Noto Sans"/>
              </a:rPr>
              <a:t>11%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977639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A9AA6"/>
                </a:solidFill>
                <a:latin typeface="Noto Sans"/>
              </a:rPr>
              <a:t>the only labor
in the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148840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606040"/>
            <a:ext cx="3611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0" b="1">
                <a:solidFill>
                  <a:srgbClr val="818CF8"/>
                </a:solidFill>
                <a:latin typeface="Noto Sans"/>
              </a:rP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977639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A9AA6"/>
                </a:solidFill>
                <a:latin typeface="Noto Sans"/>
              </a:rPr>
              <a:t>coverage with no
night-shift payroll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"/>
              </a:rPr>
              <a:t>Every point of AI resolution is margin a labor-based MSP has to buy with headcount.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19088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9AA6"/>
                </a:solidFill>
                <a:latin typeface="Noto Sans"/>
              </a:rPr>
              <a:t>08</a:t>
            </a:r>
          </a:p>
        </p:txBody>
      </p:sp>
      <p:pic>
        <p:nvPicPr>
          <p:cNvPr id="17" name="Picture 16" descr="klaravex-icon-transparent-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57200" cy="6858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  <a:latin typeface="Noto Sans"/>
              </a:rPr>
              <a:t>THE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Noto Sans"/>
              </a:rPr>
              <a:t>The company runs on its own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67128"/>
            <a:ext cx="64008" cy="6858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200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Noto Sans"/>
              </a:rPr>
              <a:t>Autonomous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057400"/>
            <a:ext cx="7223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A9AA6"/>
                </a:solidFill>
                <a:latin typeface="Noto Sans"/>
              </a:rPr>
              <a:t>A closed reason–act–review–verify loop ships features against a versioned spec, with quality gates and audit trails.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54680"/>
            <a:ext cx="64008" cy="6858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44952"/>
            <a:ext cx="3200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Noto Sans"/>
              </a:rPr>
              <a:t>Autonomous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044952"/>
            <a:ext cx="7223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A9AA6"/>
                </a:solidFill>
                <a:latin typeface="Noto Sans"/>
              </a:rPr>
              <a:t>Growth streams — leads, outreach, content — run on independent schedulers with human-gated publishing. Cadence survives failures elsewhere.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42232"/>
            <a:ext cx="64008" cy="6858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32504"/>
            <a:ext cx="3200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Noto Sans"/>
              </a:rPr>
              <a:t>One-screen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032504"/>
            <a:ext cx="7223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A9AA6"/>
                </a:solidFill>
                <a:latin typeface="Noto Sans"/>
              </a:rPr>
              <a:t>Delivery, pipeline, finances and the agent fleet on a single operator console with honest status. Today an internal edge; tomorrow a product.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129784"/>
            <a:ext cx="64008" cy="6858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0056"/>
            <a:ext cx="3200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Noto Sans"/>
              </a:rPr>
              <a:t>Radical 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5020056"/>
            <a:ext cx="7223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A9AA6"/>
                </a:solidFill>
                <a:latin typeface="Noto Sans"/>
              </a:rPr>
              <a:t>AI always labeled. No fake reviews. Public agent experiments. Trust compounds in a low-trust market.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19088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9AA6"/>
                </a:solidFill>
                <a:latin typeface="Noto Sans"/>
              </a:rPr>
              <a:t>09</a:t>
            </a:r>
          </a:p>
        </p:txBody>
      </p:sp>
      <p:pic>
        <p:nvPicPr>
          <p:cNvPr id="19" name="Picture 18" descr="klaravex-icon-transparent-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57200" cy="6858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  <a:latin typeface="Noto Sans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Noto Sans"/>
              </a:rPr>
              <a:t>A warm wedge, then compounding funnels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349240" cy="160020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04288"/>
            <a:ext cx="640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818CF8"/>
                </a:solidFill>
                <a:latin typeface="Noto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30428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Noto Sans"/>
              </a:rPr>
              <a:t>Founder-led wedge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761488"/>
            <a:ext cx="4160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A9AA6"/>
                </a:solidFill>
                <a:latin typeface="Noto Sans"/>
              </a:rPr>
              <a:t>Years of hands-on engagements — foundations, legal aid, professional services. Free written assessments open doors.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349240" cy="160020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304288"/>
            <a:ext cx="640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818CF8"/>
                </a:solidFill>
                <a:latin typeface="Noto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30428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Noto Sans"/>
              </a:rPr>
              <a:t>Compliance verticals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761488"/>
            <a:ext cx="4160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A9AA6"/>
                </a:solidFill>
                <a:latin typeface="Noto Sans"/>
              </a:rPr>
              <a:t>Small law, accounting and medical practices — where the premium tier is bought, not sold.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5349240" cy="160020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087368"/>
            <a:ext cx="640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818CF8"/>
                </a:solidFill>
                <a:latin typeface="Noto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08736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Noto Sans"/>
              </a:rPr>
              <a:t>Autonomous funnel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544568"/>
            <a:ext cx="4160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A9AA6"/>
                </a:solidFill>
                <a:latin typeface="Noto Sans"/>
              </a:rPr>
              <a:t>Growth streams generate leads and content on cadence; a public AI-agent scoreboard proves the governance.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86200"/>
            <a:ext cx="5349240" cy="160020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087368"/>
            <a:ext cx="640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818CF8"/>
                </a:solidFill>
                <a:latin typeface="Noto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08736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Noto Sans"/>
              </a:rPr>
              <a:t>Consumer flywheel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544568"/>
            <a:ext cx="4160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A9AA6"/>
                </a:solidFill>
                <a:latin typeface="Noto Sans"/>
              </a:rPr>
              <a:t>Free scam recovery earns word of mouth in the exact demographic that buys the Family plan.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19088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9AA6"/>
                </a:solidFill>
                <a:latin typeface="Noto Sans"/>
              </a:rPr>
              <a:t>10</a:t>
            </a:r>
          </a:p>
        </p:txBody>
      </p:sp>
      <p:pic>
        <p:nvPicPr>
          <p:cNvPr id="23" name="Picture 22" descr="klaravex-icon-transparent-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57200" cy="6858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  <a:latin typeface="Noto Sans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Noto Sans"/>
              </a:rPr>
              <a:t>Numbers go here — and only real 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0881360" cy="3017520"/>
          </a:xfrm>
          <a:prstGeom prst="roundRect">
            <a:avLst>
              <a:gd name="adj" fmla="val 6000"/>
            </a:avLst>
          </a:prstGeom>
          <a:solidFill>
            <a:srgbClr val="1C1C22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818CF8"/>
                </a:solidFill>
                <a:latin typeface="Noto Sans"/>
              </a:rPr>
              <a:t>[ MRR · pipeline · assessments delivered · consumer sessions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566160"/>
            <a:ext cx="9235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A9AA6"/>
                </a:solidFill>
                <a:latin typeface="Noto Sans"/>
              </a:rPr>
              <a:t>Populate from live scorecards before any external send. This deck ships with placeholders on principle: the same no-fabrication policy the product is built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Noto Sans"/>
              </a:rPr>
              <a:t>Verifiable today: Secure Score 32% → 78% in under 60 days on a led engagement · full multi-site network replacement over one weekend.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19088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9AA6"/>
                </a:solidFill>
                <a:latin typeface="Noto Sans"/>
              </a:rPr>
              <a:t>11</a:t>
            </a:r>
          </a:p>
        </p:txBody>
      </p:sp>
      <p:pic>
        <p:nvPicPr>
          <p:cNvPr id="11" name="Picture 10" descr="klaravex-icon-transparent-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laravex-logo-light-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210312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377440"/>
            <a:ext cx="10881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"/>
              </a:rPr>
              <a:t>Honest, AI-first IT services —</a:t>
            </a:r>
          </a:p>
          <a:p>
            <a:pPr algn="l">
              <a:spcBef>
                <a:spcPts val="200"/>
              </a:spcBef>
            </a:pPr>
            <a:r>
              <a:rPr sz="4000" b="1">
                <a:solidFill>
                  <a:srgbClr val="818CF8"/>
                </a:solidFill>
                <a:latin typeface="Noto Sans"/>
              </a:rPr>
              <a:t>built to scale without headcount.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A9AA6"/>
                </a:solidFill>
                <a:latin typeface="Noto Sans"/>
              </a:rPr>
              <a:t>Raising to scale the AI operations layer, cut growth streams to full autonomy, and productize the operator console.</a:t>
            </a:r>
          </a:p>
          <a:p>
            <a:pPr algn="l">
              <a:spcBef>
                <a:spcPts val="1400"/>
              </a:spcBef>
            </a:pPr>
            <a:r>
              <a:rPr sz="1600" b="1">
                <a:solidFill>
                  <a:srgbClr val="FFFFFF"/>
                </a:solidFill>
                <a:latin typeface="Noto Sans"/>
              </a:rPr>
              <a:t>hello@klaravex.com · (833) 990-2069 · klaravex.com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