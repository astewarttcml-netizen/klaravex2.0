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182880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4F46E5"/>
                </a:solidFill>
                <a:latin typeface="Inter"/>
              </a:rPr>
              <a:t>KLARAVEX — B2B SALES DECK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28600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Syne"/>
              </a:rPr>
              <a:t>AI-first managed IT &amp; security for US businesses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023360"/>
            <a:ext cx="944849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BBBBBB"/>
                </a:solidFill>
                <a:latin typeface="Inter"/>
              </a:rPr>
              <a:t>89% of issues resolved instantly, 24/7. Senior engineers in under 2 hours. Transparent pricing.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Your IT is a 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Small law, accounting, and medical firms face constant security risks and expensive reactive support.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1C1C1A"/>
                </a:solidFill>
                <a:latin typeface="Syne"/>
              </a:rPr>
              <a:t>What you 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926080"/>
            <a:ext cx="10911535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55555"/>
                </a:solidFill>
                <a:latin typeface="Inter"/>
              </a:rPr>
              <a:t>AI-powered support, security hardening, compliance readiness, and a senior engineer on call.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Ticket 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10911535" cy="4572000"/>
          </a:xfrm>
          <a:prstGeom prst="rect">
            <a:avLst/>
          </a:prstGeom>
          <a:solidFill>
            <a:srgbClr val="FFFFFF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2286000"/>
            <a:ext cx="2286000" cy="73152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Inter"/>
              </a:rPr>
              <a:t>Ticket Created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0" y="2286000"/>
            <a:ext cx="22860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AI Triage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858000" y="2286000"/>
            <a:ext cx="22860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AI Resolution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601200" y="2286000"/>
            <a:ext cx="2286000" cy="731520"/>
          </a:xfrm>
          <a:prstGeom prst="rect">
            <a:avLst/>
          </a:prstGeom>
          <a:solidFill>
            <a:srgbClr val="F5F3EE"/>
          </a:solidFill>
          <a:ln w="254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84080" y="2377440"/>
            <a:ext cx="1920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4F46E5"/>
                </a:solidFill>
                <a:latin typeface="Inter"/>
              </a:rPr>
              <a:t>Human Escalation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555555"/>
                </a:solidFill>
                <a:latin typeface="Inter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6035040"/>
            <a:ext cx="1091153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55555"/>
                </a:solidFill>
                <a:latin typeface="Inter"/>
              </a:rPr>
              <a:t>Support ticket lifecycle diagram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Service tiers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71600"/>
            <a:ext cx="3383280" cy="41148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1A"/>
                </a:solidFill>
                <a:latin typeface="Syne"/>
              </a:rPr>
              <a:t>Foundation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  <a:latin typeface="Syne"/>
              </a:rPr>
              <a:t>$75–100 / user / 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A"/>
                </a:solidFill>
                <a:latin typeface="Inter"/>
              </a:rPr>
              <a:t>AI-first support, patching, monitoring, backup, network management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371600"/>
            <a:ext cx="3383280" cy="41148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C1C1A"/>
                </a:solidFill>
                <a:latin typeface="Syne"/>
              </a:rPr>
              <a:t>Assurance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3484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4F46E5"/>
                </a:solidFill>
                <a:latin typeface="Syne"/>
              </a:rPr>
              <a:t>$100–150 / user / 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1C1C1A"/>
                </a:solidFill>
                <a:latin typeface="Inter"/>
              </a:rPr>
              <a:t>Everything in Foundation plus security hardening and identity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80" y="1371600"/>
            <a:ext cx="3383280" cy="411480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645920"/>
            <a:ext cx="3108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Syne"/>
              </a:rPr>
              <a:t>Directive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237744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Syne"/>
              </a:rPr>
              <a:t>$150–250 / user / mo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2440" y="3017520"/>
            <a:ext cx="3108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Inter"/>
              </a:rPr>
              <a:t>Compliance readiness (HIPAA/SOC 2/ISO 27001) and vCISO support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911535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1C1C1A"/>
                </a:solidFill>
                <a:latin typeface="Syne"/>
              </a:rPr>
              <a:t>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32→78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Secure Score improvement in &lt;60 days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1 weekend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Full network replacement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2 hrs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Engineer response commitment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869680" y="1828800"/>
            <a:ext cx="2468880" cy="3108960"/>
          </a:xfrm>
          <a:prstGeom prst="rect">
            <a:avLst/>
          </a:prstGeom>
          <a:solidFill>
            <a:srgbClr val="F5F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2377440"/>
            <a:ext cx="2103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4F46E5"/>
                </a:solidFill>
                <a:latin typeface="Syne"/>
              </a:rPr>
              <a:t>$0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3566160"/>
            <a:ext cx="21031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C1C1A"/>
                </a:solidFill>
                <a:latin typeface="Inter"/>
              </a:rPr>
              <a:t>Vendor commissions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C1C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93408"/>
            <a:ext cx="12191695" cy="164592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klaravex-logo-light-2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5695" y="457200"/>
            <a:ext cx="18288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22960" y="2103120"/>
            <a:ext cx="94484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Syne"/>
              </a:rPr>
              <a:t>Ready for better IT?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94484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CCCCC"/>
                </a:solidFill>
                <a:latin typeface="Inter"/>
              </a:rPr>
              <a:t>Free assessment: 45 minutes, written report, no strings attached.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4484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818CF8"/>
                </a:solidFill>
                <a:latin typeface="Inter"/>
              </a:rPr>
              <a:t>klaravex.com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