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aravex-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76352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47088"/>
            <a:ext cx="502920" cy="82296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5F5F8"/>
                </a:solidFill>
                <a:latin typeface="Calibri"/>
              </a:rPr>
              <a:t>Klaravex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A0A0B0"/>
                </a:solidFill>
                <a:latin typeface="Calibri"/>
              </a:rPr>
              <a:t>AI-native managed IT and security for American small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Calibri"/>
              </a:rPr>
              <a:t>Investor briefing ·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447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7CFF"/>
                </a:solidFill>
                <a:latin typeface="Calibri"/>
              </a:rPr>
              <a:t>klaravex.com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5F8"/>
                </a:solidFill>
                <a:latin typeface="Calibri"/>
              </a:rPr>
              <a:t>Small firms face enterprise-grade threats
with no IT department.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3611880" cy="329184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361188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9260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F5F8"/>
                </a:solidFill>
                <a:latin typeface="Calibri"/>
              </a:rPr>
              <a:t>No help at 2 a.m.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94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Traditional MSPs run human ticket queues. SMBs wait hours for a password reset and days for real answers.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651760"/>
            <a:ext cx="3611880" cy="329184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2651760"/>
            <a:ext cx="361188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9260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F5F8"/>
                </a:solidFill>
                <a:latin typeface="Calibri"/>
              </a:rPr>
              <a:t>Priced for enterprises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794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Full-service IT and security is built and priced for 500-seat companies — a 12-person law firm can't buy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2651760"/>
            <a:ext cx="3611880" cy="329184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2651760"/>
            <a:ext cx="361188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9260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F5F8"/>
                </a:solidFill>
                <a:latin typeface="Calibri"/>
              </a:rPr>
              <a:t>Conflicted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794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Most providers earn vendor commissions, so the 'recommendation' is whatever pays the reseller best.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70"/>
                </a:solidFill>
                <a:latin typeface="Calibri"/>
              </a:rPr>
              <a:t>Insurers, clients, and regulators now demand security readiness from firms this size — the pressure is structural, not optional.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5F8"/>
                </a:solidFill>
                <a:latin typeface="Calibri"/>
              </a:rPr>
              <a:t>Klara AI answers instantly.
A senior engineer owns the hard 11%.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2697480" cy="210312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98648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B7CFF"/>
                </a:solidFill>
                <a:latin typeface="Calibri"/>
              </a:rPr>
              <a:t>89%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of IT issues resolved by AI — instantly, any hour, any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697480"/>
            <a:ext cx="2697480" cy="210312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898648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8"/>
                </a:solidFill>
                <a:latin typeface="Calibri"/>
              </a:rP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6576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AI coverage across every US time zone — no queue, no hold music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697480"/>
            <a:ext cx="2697480" cy="210312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98648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8"/>
                </a:solidFill>
                <a:latin typeface="Calibri"/>
              </a:rPr>
              <a:t>2hr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senior engineer SLA for the cases that need human judgment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697480"/>
            <a:ext cx="2542032" cy="210312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898648"/>
            <a:ext cx="2084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DE96"/>
                </a:solidFill>
                <a:latin typeface="Calibri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657600"/>
            <a:ext cx="20848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vendor commissions — advice with no reseller conflict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B0"/>
                </a:solidFill>
                <a:latin typeface="Calibri"/>
              </a:rPr>
              <a:t>The AI is always labeled — clients know when they're talking to Klara AI and when a certified engineer has taken over. That transparency is the trust wedge against both chatbot-washing and legacy MSPs.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PRODUCT ·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5F8"/>
                </a:solidFill>
                <a:latin typeface="Calibri"/>
              </a:rPr>
              <a:t>Full-stack IT department, per-seat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868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B7CFF"/>
                </a:solidFill>
                <a:latin typeface="Calibri"/>
              </a:rPr>
              <a:t>klaravex.com</a:t>
            </a:r>
          </a:p>
        </p:txBody>
      </p:sp>
      <p:pic>
        <p:nvPicPr>
          <p:cNvPr id="7" name="Picture 6" descr="klaravex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3152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2440" y="1600200"/>
            <a:ext cx="82296" cy="12344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Four pillars, fourteen services — network &amp; security, strategy &amp; vCIO, cloud &amp; productivity, infrastructure &amp;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108960"/>
            <a:ext cx="82296" cy="12344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Readiness for HIPAA, SOC 2, and cyber-insurance — what insurers now require of small firms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617720"/>
            <a:ext cx="82296" cy="12344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6177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Client portal: live system status, AI chat, named engineer, auto-documentation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PRODUCT ·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5F8"/>
                </a:solidFill>
                <a:latin typeface="Calibri"/>
              </a:rPr>
              <a:t>The same AI, sold to households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868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B7CFF"/>
                </a:solidFill>
                <a:latin typeface="Calibri"/>
              </a:rPr>
              <a:t>personal.klaravex.com</a:t>
            </a:r>
          </a:p>
        </p:txBody>
      </p:sp>
      <p:pic>
        <p:nvPicPr>
          <p:cNvPr id="7" name="Picture 6" descr="personal-klara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3152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2440" y="1600200"/>
            <a:ext cx="82296" cy="12344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Plain-English tech help from $29 a session — no truck roll, so AI keeps the price a fraction of a house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108960"/>
            <a:ext cx="82296" cy="12344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Family and senior plans, scam recovery offered free — a trust engine that seeds the brand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617720"/>
            <a:ext cx="82296" cy="1234440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6177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Consumer track doubles as top-of-funnel: the household buyer is often the small-business owner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8"/>
                </a:solidFill>
                <a:latin typeface="Calibri"/>
              </a:rPr>
              <a:t>Recurring, per-seat, AI-margin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606040" cy="310896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7CFF"/>
                </a:solidFill>
                <a:latin typeface="Calibri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8"/>
                </a:solidFill>
                <a:latin typeface="Calibri"/>
              </a:rPr>
              <a:t>$49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Calibri"/>
              </a:rPr>
              <a:t>per user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Lean teams that need IT to just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691640"/>
            <a:ext cx="2606040" cy="310896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7CFF"/>
                </a:solidFill>
                <a:latin typeface="Calibri"/>
              </a:rPr>
              <a:t>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8"/>
                </a:solidFill>
                <a:latin typeface="Calibri"/>
              </a:rPr>
              <a:t>$79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Calibri"/>
              </a:rPr>
              <a:t>per user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Firms with data, payments, or insurance exposure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1691640"/>
            <a:ext cx="2606040" cy="310896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25896" y="1691640"/>
            <a:ext cx="260604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7CFF"/>
                </a:solidFill>
                <a:latin typeface="Calibri"/>
              </a:rPr>
              <a:t>Directive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8"/>
                </a:solidFill>
                <a:latin typeface="Calibri"/>
              </a:rPr>
              <a:t>$129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Calibri"/>
              </a:rPr>
              <a:t>per user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Regulated firms that need audit-ready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691640"/>
            <a:ext cx="2770632" cy="310896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DE96"/>
                </a:solidFill>
                <a:latin typeface="Calibri"/>
              </a:rPr>
              <a:t>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3317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Sessions from $29
Plans $29–$39 / month
Cash-pay, zero CAC when it converts from free scam-recovery help.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B0"/>
                </a:solidFill>
                <a:latin typeface="Calibri"/>
              </a:rPr>
              <a:t>Every tier is delivered AI-first. The marginal cost of the 89% is compute — human cost concentrates only on the 11% and on sales. That's the structural margin advantage over labor-priced MSPs.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8"/>
                </a:solidFill>
                <a:latin typeface="Calibri"/>
              </a:rPr>
              <a:t>A $71B US market, majority SMB, growing 11% a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566160" cy="237744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928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B7CFF"/>
                </a:solidFill>
                <a:latin typeface="Calibri"/>
              </a:rPr>
              <a:t>$71B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US managed services market, 2026 — projected $120B by 2031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566160" cy="237744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8"/>
                </a:solidFill>
                <a:latin typeface="Calibri"/>
              </a:rPr>
              <a:t>~58%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of that market is small and medium enterprises — the fastest-growing segment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691640"/>
            <a:ext cx="3502152" cy="237744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892808"/>
            <a:ext cx="3044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DE96"/>
                </a:solidFill>
                <a:latin typeface="Calibri"/>
              </a:rPr>
              <a:t>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651760"/>
            <a:ext cx="3044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Calibri"/>
              </a:rPr>
              <a:t>CAGR 2026–2031, driven by cyber-insurance mandates and the security skills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B0"/>
                </a:solidFill>
                <a:latin typeface="Calibri"/>
              </a:rPr>
              <a:t>The demand driver is structural: insurers require 24/7 monitoring for renewal, and SMBs cannot hire the $165K/yr security engineers this work demands. They must buy it as a service — and AI-native delivery is the only way to serve a 10-seat firm profitably.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70"/>
                </a:solidFill>
                <a:latin typeface="Calibri"/>
              </a:rPr>
              <a:t>Source: Mordor Intelligence, United States Managed Services Market (2026).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5F8"/>
                </a:solidFill>
                <a:latin typeface="Calibri"/>
              </a:rPr>
              <a:t>The company itself runs on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B0"/>
                </a:solidFill>
                <a:latin typeface="Calibri"/>
              </a:rPr>
              <a:t>Klaravex OS — our own operating console — runs delivery, growth, and operations with a fleet of AI agents. The cost structure competitors would need years to copy is our default.</a:t>
            </a:r>
          </a:p>
        </p:txBody>
      </p:sp>
      <p:pic>
        <p:nvPicPr>
          <p:cNvPr id="7" name="Picture 6" descr="os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0"/>
            <a:ext cx="11183112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Same playbook the clients buy: AI does the volume, humans do the judgment. It compounds — every client interaction trains better runbooks, every runbook lowers the marginal cost of the next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8"/>
                </a:solidFill>
                <a:latin typeface="Calibri"/>
              </a:rPr>
              <a:t>Vertical wedge, automated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611880" cy="320040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1188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116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8"/>
                </a:solidFill>
                <a:latin typeface="Calibri"/>
              </a:rPr>
              <a:t>Regulated verticals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71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Law, accounting, and medical practices — where readiness pressure is highest and a named senior engineer closes the deal.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737360"/>
            <a:ext cx="3611880" cy="320040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737360"/>
            <a:ext cx="361188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0116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8"/>
                </a:solidFill>
                <a:latin typeface="Calibri"/>
              </a:rPr>
              <a:t>Always-on demand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971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AI-researched outbound, daily content, and search — the same automation that runs delivery runs acquisition, at software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1737360"/>
            <a:ext cx="3611880" cy="3200400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737360"/>
            <a:ext cx="3611880" cy="64008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0116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8"/>
                </a:solidFill>
                <a:latin typeface="Calibri"/>
              </a:rPr>
              <a:t>Two-track funnel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971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Consumer help builds trust at $29; the same buyer signs their 12-person firm at $79–$129 a seat.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B0"/>
                </a:solidFill>
                <a:latin typeface="Calibri"/>
              </a:rPr>
              <a:t>Free offers do the selling: a 45-minute IT assessment for businesses, free scam-recovery help for consumers. Both produce a documented, named-engineer first impression.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0607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8"/>
                </a:solidFill>
                <a:latin typeface="Calibri"/>
              </a:rPr>
              <a:t>Built, live, and selling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83112" cy="932688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9656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7CFF"/>
                </a:solidFill>
                <a:latin typeface="Calibri"/>
              </a:rPr>
              <a:t>Product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19656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Klara AI resolution, senior-engineer escalation, and the client portal are in production — not a prototype.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70632"/>
            <a:ext cx="11183112" cy="932688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7CFF"/>
                </a:solidFill>
                <a:latin typeface="Calibri"/>
              </a:rPr>
              <a:t>Both surfaces shipping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9864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klaravex.com (business) and personal.klaravex.com (consumer) are live with published pricing.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9624"/>
            <a:ext cx="11183112" cy="932688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7CFF"/>
                </a:solidFill>
                <a:latin typeface="Calibri"/>
              </a:rPr>
              <a:t>Acquisition running daily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97764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The automated outbound, content, and ads engine is on and producing pipeline every business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928616"/>
            <a:ext cx="11183112" cy="932688"/>
          </a:xfrm>
          <a:prstGeom prst="rect">
            <a:avLst/>
          </a:prstGeom>
          <a:solidFill>
            <a:srgbClr val="12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5663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7CFF"/>
                </a:solidFill>
                <a:latin typeface="Calibri"/>
              </a:rPr>
              <a:t>Entity &amp;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05663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  <a:latin typeface="Calibri"/>
              </a:rPr>
              <a:t>Klaravex LLC (Wyoming), nationwide US remote delivery, trademark filed (USPTO serial 99856526).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Calibri"/>
              </a:rPr>
              <a:t>Current traction metrics (clients, MRR, pipeline) shared in the data room / live conversation.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783080"/>
            <a:ext cx="502920" cy="82296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5F8"/>
                </a:solidFill>
                <a:latin typeface="Calibri"/>
              </a:rPr>
              <a:t>The MSP industry is a labor business.
We rebuilt it as a software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B0"/>
                </a:solidFill>
                <a:latin typeface="Calibri"/>
              </a:rPr>
              <a:t>Raising to scale sales and onboarding across the three launch verticals.  [amount + terms — see one-pager]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Calibri"/>
              </a:rPr>
              <a:t>Anthony Stewart · 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7CFF"/>
                </a:solidFill>
                <a:latin typeface="Calibri"/>
              </a:rPr>
              <a:t>hello@klaravex.com   ·   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